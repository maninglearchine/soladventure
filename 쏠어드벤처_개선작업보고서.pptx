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003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109728" cy="6858000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>
                <a:solidFill>
                  <a:srgbClr val="FFFFFF"/>
                </a:solidFill>
              </a:rPr>
              <a:t>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7772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C800"/>
                </a:solidFill>
              </a:rPr>
              <a:t>신한은행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쏠어드벤처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008CD7"/>
                </a:solidFill>
              </a:rPr>
              <a:t>개선 작업 보고서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703320"/>
            <a:ext cx="3840480" cy="4572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</a:rPr>
              <a:t>SolAdventure  ·  어린이 금융 탐험 게임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43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BBCC"/>
                </a:solidFill>
              </a:rPr>
              <a:t>2026.06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1828800"/>
            <a:ext cx="2103120" cy="1463040"/>
          </a:xfrm>
          <a:prstGeom prst="rect">
            <a:avLst/>
          </a:prstGeom>
          <a:solidFill>
            <a:srgbClr val="1A2F5A"/>
          </a:solidFill>
          <a:ln w="10160">
            <a:solidFill>
              <a:srgbClr val="008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965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</a:rPr>
              <a:t>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F0"/>
                </a:solidFill>
              </a:rPr>
              <a:t>게임 플레이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1828800"/>
            <a:ext cx="2103120" cy="1463040"/>
          </a:xfrm>
          <a:prstGeom prst="rect">
            <a:avLst/>
          </a:prstGeom>
          <a:solidFill>
            <a:srgbClr val="1A2F5A"/>
          </a:solidFill>
          <a:ln w="10160">
            <a:solidFill>
              <a:srgbClr val="008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965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F0"/>
                </a:solidFill>
              </a:rPr>
              <a:t>AI 퀴즈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3657600"/>
            <a:ext cx="2103120" cy="1463040"/>
          </a:xfrm>
          <a:prstGeom prst="rect">
            <a:avLst/>
          </a:prstGeom>
          <a:solidFill>
            <a:srgbClr val="1A2F5A"/>
          </a:solidFill>
          <a:ln w="10160">
            <a:solidFill>
              <a:srgbClr val="008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3794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572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F0"/>
                </a:solidFill>
              </a:rPr>
              <a:t>금융 교육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3657600"/>
            <a:ext cx="2103120" cy="1463040"/>
          </a:xfrm>
          <a:prstGeom prst="rect">
            <a:avLst/>
          </a:prstGeom>
          <a:solidFill>
            <a:srgbClr val="1A2F5A"/>
          </a:solidFill>
          <a:ln w="10160">
            <a:solidFill>
              <a:srgbClr val="008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3794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4572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F0"/>
                </a:solidFill>
              </a:rPr>
              <a:t>뱃지 시스템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800"/>
                </a:solidFill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개선 항목 목차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5577840" cy="1078992"/>
          </a:xfrm>
          <a:prstGeom prst="rect">
            <a:avLst/>
          </a:prstGeom>
          <a:solidFill>
            <a:srgbClr val="1A2F5A"/>
          </a:solidFill>
          <a:ln w="7620">
            <a:solidFill>
              <a:srgbClr val="008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45920"/>
            <a:ext cx="502920" cy="1078992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3E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BGM 변경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게임 배경음악을 새 파일로 교체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80360"/>
            <a:ext cx="5577840" cy="1078992"/>
          </a:xfrm>
          <a:prstGeom prst="rect">
            <a:avLst/>
          </a:prstGeom>
          <a:solidFill>
            <a:srgbClr val="1A2F5A"/>
          </a:solidFill>
          <a:ln w="762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880360"/>
            <a:ext cx="502920" cy="1078992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1546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3E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71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AI 퀴즈 품질 개선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4290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연령 그룹 매핑 수정 · undefined/NaN 버그 제거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14800"/>
            <a:ext cx="5577840" cy="1078992"/>
          </a:xfrm>
          <a:prstGeom prst="rect">
            <a:avLst/>
          </a:prstGeom>
          <a:solidFill>
            <a:srgbClr val="1A2F5A"/>
          </a:solidFill>
          <a:ln w="762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114800"/>
            <a:ext cx="502920" cy="107899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389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3E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206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배틀 UI 개선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6634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Z키 방어 · 공격 쿨타임 · 결과 연출 강화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49240"/>
            <a:ext cx="5577840" cy="1078992"/>
          </a:xfrm>
          <a:prstGeom prst="rect">
            <a:avLst/>
          </a:prstGeom>
          <a:solidFill>
            <a:srgbClr val="1A2F5A"/>
          </a:solidFill>
          <a:ln w="7620">
            <a:solidFill>
              <a:srgbClr val="C4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349240"/>
            <a:ext cx="502920" cy="1078992"/>
          </a:xfrm>
          <a:prstGeom prst="rect">
            <a:avLst/>
          </a:prstGeom>
          <a:solidFill>
            <a:srgbClr val="C4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6235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3E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440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카드 획득 연출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8978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블랙카드 · 빌런카드 오버레이 UI 추가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645920"/>
            <a:ext cx="5577840" cy="1078992"/>
          </a:xfrm>
          <a:prstGeom prst="rect">
            <a:avLst/>
          </a:prstGeom>
          <a:solidFill>
            <a:srgbClr val="1A2F5A"/>
          </a:solidFill>
          <a:ln w="762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1645920"/>
            <a:ext cx="502920" cy="10789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1920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3E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증여 챗봇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21945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pypdf 설치 · 입력창 가시성 수정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880360"/>
            <a:ext cx="5577840" cy="1078992"/>
          </a:xfrm>
          <a:prstGeom prst="rect">
            <a:avLst/>
          </a:prstGeom>
          <a:solidFill>
            <a:srgbClr val="1A2F5A"/>
          </a:solidFill>
          <a:ln w="7620">
            <a:solidFill>
              <a:srgbClr val="008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2880360"/>
            <a:ext cx="502920" cy="1078992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1546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3E"/>
                </a:solidFill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2971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뉴스 AI 퀴즈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4290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4개 기사 AI 퀴즈 생성 · 정답/오답 피드백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114800"/>
            <a:ext cx="5577840" cy="1078992"/>
          </a:xfrm>
          <a:prstGeom prst="rect">
            <a:avLst/>
          </a:prstGeom>
          <a:solidFill>
            <a:srgbClr val="1A2F5A"/>
          </a:solidFill>
          <a:ln w="762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4114800"/>
            <a:ext cx="502920" cy="1078992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4389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3E"/>
                </a:solidFill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4206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기타 UX 개선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46634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D-pad SFX · 진행 저장 · 버튼 텍스트 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C800"/>
                </a:solidFill>
              </a:rPr>
              <a:t>01  BGM 변경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36576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</a:rPr>
              <a:t>🎵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188720"/>
            <a:ext cx="4846320" cy="4572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3E"/>
                </a:solidFill>
              </a:rPr>
              <a:t>Before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1645920"/>
            <a:ext cx="4846320" cy="2560320"/>
          </a:xfrm>
          <a:prstGeom prst="rect">
            <a:avLst/>
          </a:prstGeom>
          <a:solidFill>
            <a:srgbClr val="1A2F5A"/>
          </a:solidFill>
          <a:ln w="1016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18288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0"/>
                </a:solidFill>
              </a:rPr>
              <a:t>  •  music/shinhan2.mp4  (Phaser)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514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0"/>
                </a:solidFill>
              </a:rPr>
              <a:t>  •  bgm/bgm2.mp3  (Phaser fallback)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200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0"/>
                </a:solidFill>
              </a:rPr>
              <a:t>  •  /app/static/bgm2.mp3  (Streamlit)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188720"/>
            <a:ext cx="4846320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3E"/>
                </a:solidFill>
              </a:rPr>
              <a:t>After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645920"/>
            <a:ext cx="4846320" cy="2560320"/>
          </a:xfrm>
          <a:prstGeom prst="rect">
            <a:avLst/>
          </a:prstGeom>
          <a:solidFill>
            <a:srgbClr val="1A2F5A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18288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0"/>
                </a:solidFill>
              </a:rPr>
              <a:t>  •  bgm.mid → bgm.wav 변환 (numpy 합성)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514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0"/>
                </a:solidFill>
              </a:rPr>
              <a:t>  •  music/bgm.wav  (Phaser)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200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0"/>
                </a:solidFill>
              </a:rPr>
              <a:t>  •  /app/static/bgm.wav  (Streamlit)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1488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8CD7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343400"/>
            <a:ext cx="11430000" cy="1645920"/>
          </a:xfrm>
          <a:prstGeom prst="rect">
            <a:avLst/>
          </a:prstGeom>
          <a:solidFill>
            <a:srgbClr val="1A2F5A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434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D6A0"/>
                </a:solidFill>
              </a:rPr>
              <a:t>✅  검증 결과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892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0"/>
                </a:solidFill>
              </a:rPr>
              <a:t>  •  HTTP 200  ·  music/bgm.wav  (6.16 MB)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2395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0"/>
                </a:solidFill>
              </a:rPr>
              <a:t>  •  HTTP 200  ·  bgm/bgm.wav  (6.16 MB)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586983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0"/>
                </a:solidFill>
              </a:rPr>
              <a:t>  •  audio#app-bgm1  src=bgm.wav  ·  paused:false  ·  readyState:4  →  정상 재생 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C800"/>
                </a:solidFill>
              </a:rPr>
              <a:t>02  AI 퀴즈 품질 개선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36576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577840" cy="4937760"/>
          </a:xfrm>
          <a:prstGeom prst="rect">
            <a:avLst/>
          </a:prstGeom>
          <a:solidFill>
            <a:srgbClr val="1A2F5A"/>
          </a:solidFill>
          <a:ln w="762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B4B"/>
                </a:solidFill>
              </a:rPr>
              <a:t>🐛  버그 1 — 연령 그룹 매핑 오류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212080" cy="36576"/>
          </a:xfrm>
          <a:prstGeom prst="rect">
            <a:avLst/>
          </a:prstGeom>
          <a:solidFill>
            <a:srgbClr val="44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4B4B"/>
                </a:solidFill>
              </a:rPr>
              <a:t>📌 문제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"senior" → GPT가 "노인" 으로 오해
→ 어르신 대상 복잡한 세금 계산 문제 생성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546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D6A0"/>
                </a:solidFill>
              </a:rPr>
              <a:t>✅ 수정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_AGE_LABEL 딕셔너리 추가
"senior" → "중학생(13~15세) — 중학교 수준 금융 개념"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097280"/>
            <a:ext cx="5577840" cy="4937760"/>
          </a:xfrm>
          <a:prstGeom prst="rect">
            <a:avLst/>
          </a:prstGeom>
          <a:solidFill>
            <a:srgbClr val="1A2F5A"/>
          </a:solidFill>
          <a:ln w="762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1887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B4B"/>
                </a:solidFill>
              </a:rPr>
              <a:t>🐛  버그 2 — 선택지 undefined / NaN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1737360"/>
            <a:ext cx="5212080" cy="36576"/>
          </a:xfrm>
          <a:prstGeom prst="rect">
            <a:avLst/>
          </a:prstGeom>
          <a:solidFill>
            <a:srgbClr val="44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8288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4B4B"/>
                </a:solidFill>
              </a:rPr>
              <a:t>📌 문제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148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빈 choices 배열 또는 null text 처리 없음
→ 화면에 "undefined" 버튼 렌더링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1546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D6A0"/>
                </a:solidFill>
              </a:rPr>
              <a:t>✅ 수정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4747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validChoices 필터링 추가
.filter(ch =&gt; ch &amp;&amp; ch.text != null &amp;&amp; String(ch.text).trim() !== "")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6126480"/>
            <a:ext cx="11430000" cy="594360"/>
          </a:xfrm>
          <a:prstGeom prst="rect">
            <a:avLst/>
          </a:prstGeom>
          <a:solidFill>
            <a:srgbClr val="06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153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D6A0"/>
                </a:solidFill>
              </a:rPr>
              <a:t>🎯  Playwright 검증 완료  —  age_group=senior  ·  공백 선택지 0건  ·  중학생 수준 어휘 확인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6D6A0"/>
                </a:solidFill>
              </a:rPr>
              <a:t>03  배틀 UI 개선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657600" cy="2194560"/>
          </a:xfrm>
          <a:prstGeom prst="rect">
            <a:avLst/>
          </a:prstGeom>
          <a:solidFill>
            <a:srgbClr val="1A2F5A"/>
          </a:solidFill>
          <a:ln w="762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</a:rPr>
              <a:t>⚔️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325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D6A0"/>
                </a:solidFill>
              </a:rPr>
              <a:t>ATTACK_COOLDOWN 단축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3000ms  →  1000ms
타격감 향상, 전투 템포 개선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097280"/>
            <a:ext cx="3657600" cy="2194560"/>
          </a:xfrm>
          <a:prstGeom prst="rect">
            <a:avLst/>
          </a:prstGeom>
          <a:solidFill>
            <a:srgbClr val="1A2F5A"/>
          </a:solidFill>
          <a:ln w="762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2801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325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D6A0"/>
                </a:solidFill>
              </a:rPr>
              <a:t>Z키 실시간 방어 시스템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9659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defendWindowActive 플래그로 방어 타이밍 윈도우 구현
성공 시 "🛡️ Z키 방어 성공!" 연출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097280"/>
            <a:ext cx="3657600" cy="2194560"/>
          </a:xfrm>
          <a:prstGeom prst="rect">
            <a:avLst/>
          </a:prstGeom>
          <a:solidFill>
            <a:srgbClr val="1A2F5A"/>
          </a:solidFill>
          <a:ln w="762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2801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325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D6A0"/>
                </a:solidFill>
              </a:rPr>
              <a:t>킬 연출 개선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9659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showActionResult → click-to-dismiss (duration≤0)
클릭 후 빌런카드 획득 → endBattle(true)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66160"/>
            <a:ext cx="3657600" cy="2194560"/>
          </a:xfrm>
          <a:prstGeom prst="rect">
            <a:avLst/>
          </a:prstGeom>
          <a:solidFill>
            <a:srgbClr val="1A2F5A"/>
          </a:solidFill>
          <a:ln w="762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7490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794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D6A0"/>
                </a:solidFill>
              </a:rPr>
              <a:t>endBattle 레이스 컨디션 수정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4348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if (state.done) return; 가드 추가
중복 호출로 인한 UI 오작동 방지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566160"/>
            <a:ext cx="3657600" cy="2194560"/>
          </a:xfrm>
          <a:prstGeom prst="rect">
            <a:avLst/>
          </a:prstGeom>
          <a:solidFill>
            <a:srgbClr val="1A2F5A"/>
          </a:solidFill>
          <a:ln w="762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7490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794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D6A0"/>
                </a:solidFill>
              </a:rPr>
              <a:t>배틀 중 퀴즈 탈출 버튼 제어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4348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배틀 퀴즈 활성화 중 escape 버튼 hide
퀴즈 종료 후 restore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566160"/>
            <a:ext cx="3657600" cy="2194560"/>
          </a:xfrm>
          <a:prstGeom prst="rect">
            <a:avLst/>
          </a:prstGeom>
          <a:solidFill>
            <a:srgbClr val="1A2F5A"/>
          </a:solidFill>
          <a:ln w="762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7490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</a:rPr>
              <a:t>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794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D6A0"/>
                </a:solidFill>
              </a:rPr>
              <a:t>STAGE2_WIN 이벤트 전송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4348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nextBtn.onclick에서 setVal 호출
Streamlit 세션에 스테이지 2 클리어 기록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4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4AAFF"/>
                </a:solidFill>
              </a:rPr>
              <a:t>04  카드 획득 연출 &amp; 진행 저장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36576"/>
          </a:xfrm>
          <a:prstGeom prst="rect">
            <a:avLst/>
          </a:prstGeom>
          <a:solidFill>
            <a:srgbClr val="C4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5486400" cy="5029200"/>
          </a:xfrm>
          <a:prstGeom prst="rect">
            <a:avLst/>
          </a:prstGeom>
          <a:solidFill>
            <a:srgbClr val="1A2F5A"/>
          </a:solidFill>
          <a:ln w="10160">
            <a:solidFill>
              <a:srgbClr val="C4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AAFF"/>
                </a:solidFill>
              </a:rPr>
              <a:t>🃏  카드 획득 오버레이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5120640" cy="1371600"/>
          </a:xfrm>
          <a:prstGeom prst="rect">
            <a:avLst/>
          </a:prstGeom>
          <a:solidFill>
            <a:srgbClr val="122044"/>
          </a:solidFill>
          <a:ln w="635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800"/>
                </a:solidFill>
              </a:rPr>
              <a:t>blackcard.png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</a:rPr>
              <a:t>월드 클리어 시 획득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828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C800"/>
                </a:solidFill>
              </a:rPr>
              <a:t>✨ 카드 획득!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46120"/>
            <a:ext cx="5120640" cy="1371600"/>
          </a:xfrm>
          <a:prstGeom prst="rect">
            <a:avLst/>
          </a:prstGeom>
          <a:solidFill>
            <a:srgbClr val="122044"/>
          </a:solidFill>
          <a:ln w="63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D6A0"/>
                </a:solidFill>
              </a:rPr>
              <a:t>villcard.png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</a:rPr>
              <a:t>배틀 승리 시 획득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3832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6D6A0"/>
                </a:solidFill>
              </a:rPr>
              <a:t>✨ 카드 획득!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구현: showCardAcquired(imgSrc, cb)
→ 이미지 표시 후 확인 버튼으로 콜백 실행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051560"/>
            <a:ext cx="5669280" cy="5029200"/>
          </a:xfrm>
          <a:prstGeom prst="rect">
            <a:avLst/>
          </a:prstGeom>
          <a:solidFill>
            <a:srgbClr val="1A2F5A"/>
          </a:solidFill>
          <a:ln w="1016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143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</a:rPr>
              <a:t>💾  진행 상태 저장 (progress.json)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7373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0"/>
                </a:solidFill>
              </a:rPr>
              <a:t>  •  _save_progress(gs)   — 미션·뱃지·코인 저장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4231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0"/>
                </a:solidFill>
              </a:rPr>
              <a:t>  •  _load_progress(gs)   — 앱 시작 시 자동 로드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1089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0"/>
                </a:solidFill>
              </a:rPr>
              <a:t>  •  WORLD_CLEAR 이벤트 → 저장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7947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0"/>
                </a:solidFill>
              </a:rPr>
              <a:t>  •  STAGE2_WIN 이벤트 → 저장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4805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0"/>
                </a:solidFill>
              </a:rPr>
              <a:t>  •  NEWS_REQUEST → 저장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754880"/>
            <a:ext cx="5303520" cy="1097280"/>
          </a:xfrm>
          <a:prstGeom prst="rect">
            <a:avLst/>
          </a:prstGeom>
          <a:solidFill>
            <a:srgbClr val="1A3010"/>
          </a:solidFill>
          <a:ln w="63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8463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D6A0"/>
                </a:solidFill>
              </a:rPr>
              <a:t>{"completed_missions": [],
 "badges": [], "coins": 0}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6B35"/>
                </a:solidFill>
              </a:rPr>
              <a:t>05–06  증여 챗봇 &amp; 뉴스 AI 퀴즈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5486400" cy="5212080"/>
          </a:xfrm>
          <a:prstGeom prst="rect">
            <a:avLst/>
          </a:prstGeom>
          <a:solidFill>
            <a:srgbClr val="1A2F5A"/>
          </a:solidFill>
          <a:ln w="1016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</a:rPr>
              <a:t>💸  자산 증여 상담 챗봇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5120640" cy="1828800"/>
          </a:xfrm>
          <a:prstGeom prst="rect">
            <a:avLst/>
          </a:prstGeom>
          <a:solidFill>
            <a:srgbClr val="12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6479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4B4B"/>
                </a:solidFill>
              </a:rPr>
              <a:t>❌  pypdf 미설치 에러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pip install pypdf → 정상 설치
PDF RAG 모드로 동작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03320"/>
            <a:ext cx="5120640" cy="1828800"/>
          </a:xfrm>
          <a:prstGeom prst="rect">
            <a:avLst/>
          </a:prstGeom>
          <a:solidFill>
            <a:srgbClr val="12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764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4B4B"/>
                </a:solidFill>
              </a:rPr>
              <a:t>❌  입력창 불가시성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0624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배경·폰트 모두 흰색 → 안 보임
래퍼 bg: rgba(30,30,60,0.75)
color: #fff · border: 보라색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150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D6A0"/>
                </a:solidFill>
              </a:rPr>
              <a:t>✅ Playwright 검증: pypdf 에러 제거, 입력 가시성 확인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051560"/>
            <a:ext cx="5669280" cy="5212080"/>
          </a:xfrm>
          <a:prstGeom prst="rect">
            <a:avLst/>
          </a:prstGeom>
          <a:solidFill>
            <a:srgbClr val="1A2F5A"/>
          </a:solidFill>
          <a:ln w="10160">
            <a:solidFill>
              <a:srgbClr val="008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143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CD7"/>
                </a:solidFill>
              </a:rPr>
              <a:t>📰  뉴스 기반 AI 퀴즈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691640"/>
            <a:ext cx="5303520" cy="749808"/>
          </a:xfrm>
          <a:prstGeom prst="rect">
            <a:avLst/>
          </a:prstGeom>
          <a:solidFill>
            <a:srgbClr val="1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8CD7"/>
                </a:solidFill>
              </a:rPr>
              <a:t>뉴스 로드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실시간 주식 뉴스 4건 표시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560320"/>
            <a:ext cx="5303520" cy="749808"/>
          </a:xfrm>
          <a:prstGeom prst="rect">
            <a:avLst/>
          </a:prstGeom>
          <a:solidFill>
            <a:srgbClr val="1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606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8CD7"/>
                </a:solidFill>
              </a:rPr>
              <a:t>AI 퀴즈 생성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606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기사별 GPT-4o-mini 3지선다 생성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429000"/>
            <a:ext cx="5303520" cy="749808"/>
          </a:xfrm>
          <a:prstGeom prst="rect">
            <a:avLst/>
          </a:prstGeom>
          <a:solidFill>
            <a:srgbClr val="1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8CD7"/>
                </a:solidFill>
              </a:rPr>
              <a:t>선택지 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undefined/NaN 0건 · ①②③ 정상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297679"/>
            <a:ext cx="5303520" cy="749808"/>
          </a:xfrm>
          <a:prstGeom prst="rect">
            <a:avLst/>
          </a:prstGeom>
          <a:solidFill>
            <a:srgbClr val="1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343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8CD7"/>
                </a:solidFill>
              </a:rPr>
              <a:t>정답 피드백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343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"🎉 정답! +15코인" · 개념 카드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5166360"/>
            <a:ext cx="5303520" cy="749808"/>
          </a:xfrm>
          <a:prstGeom prst="rect">
            <a:avLst/>
          </a:prstGeom>
          <a:solidFill>
            <a:srgbClr val="1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2120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8CD7"/>
                </a:solidFill>
              </a:rPr>
              <a:t>오답 피드백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52120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"😢 오답! -5코인" · 해설 텍스트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715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D6A0"/>
                </a:solidFill>
              </a:rPr>
              <a:t>✅ Playwright 검증: 2개 기사 퀴즈 생성·응답 전 과정 확인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C800"/>
                </a:solidFill>
              </a:rPr>
              <a:t>07  기타 UX 개선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36576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657600" cy="2377440"/>
          </a:xfrm>
          <a:prstGeom prst="rect">
            <a:avLst/>
          </a:prstGeom>
          <a:solidFill>
            <a:srgbClr val="1A2F5A"/>
          </a:solidFill>
          <a:ln w="6350">
            <a:solidFill>
              <a:srgbClr val="008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</a:rPr>
              <a:t>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325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CD7"/>
                </a:solidFill>
              </a:rPr>
              <a:t>D-pad 효과음 (SFX)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pointerdown 이벤트에 Web Audio API 비프음 추가
진동감 있는 방향키 조작감 제공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097280"/>
            <a:ext cx="3657600" cy="2377440"/>
          </a:xfrm>
          <a:prstGeom prst="rect">
            <a:avLst/>
          </a:prstGeom>
          <a:solidFill>
            <a:srgbClr val="1A2F5A"/>
          </a:solidFill>
          <a:ln w="635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2801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</a:rPr>
              <a:t>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325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800"/>
                </a:solidFill>
              </a:rPr>
              <a:t>신한은행 버튼 → 처음으로 돌아가기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9202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"신한은행" 텍스트 → "🏠 처음으로 돌아가기"
사용자 네비게이션 의도 명확화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097280"/>
            <a:ext cx="3657600" cy="2377440"/>
          </a:xfrm>
          <a:prstGeom prst="rect">
            <a:avLst/>
          </a:prstGeom>
          <a:solidFill>
            <a:srgbClr val="1A2F5A"/>
          </a:solidFill>
          <a:ln w="63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2801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1325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D6A0"/>
                </a:solidFill>
              </a:rPr>
              <a:t>어린이금융상품 자세히보기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9202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st.link_button()으로 외부 링크 연결
신한 어린이 금융상품 페이지 직접 이동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3657600" cy="2377440"/>
          </a:xfrm>
          <a:prstGeom prst="rect">
            <a:avLst/>
          </a:prstGeom>
          <a:solidFill>
            <a:srgbClr val="1A2F5A"/>
          </a:solidFill>
          <a:ln w="6350">
            <a:solidFill>
              <a:srgbClr val="C4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8862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931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AAFF"/>
                </a:solidFill>
              </a:rPr>
              <a:t>WORLD_CLEAR rerun 제거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262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_handle_game_event()에서 st.rerun() 제거
게임 진행 중 화면 리셋 방지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703320"/>
            <a:ext cx="3657600" cy="2377440"/>
          </a:xfrm>
          <a:prstGeom prst="rect">
            <a:avLst/>
          </a:prstGeom>
          <a:solidFill>
            <a:srgbClr val="1A2F5A"/>
          </a:solidFill>
          <a:ln w="63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8862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931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</a:rPr>
              <a:t>Toast CSS 수정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5262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[data-testid*="Toast"] * { color: #111 !important }
다크 배경에서 토스트 텍스트 가시성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703320"/>
            <a:ext cx="3657600" cy="2377440"/>
          </a:xfrm>
          <a:prstGeom prst="rect">
            <a:avLst/>
          </a:prstGeom>
          <a:solidFill>
            <a:srgbClr val="1A2F5A"/>
          </a:solidFill>
          <a:ln w="6350">
            <a:solidFill>
              <a:srgbClr val="008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38862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931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CD7"/>
                </a:solidFill>
              </a:rPr>
              <a:t>결과 리포트 버튼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5262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page_news()에 "📊 결과 리포트 보기" 버튼 추가
뉴스 페이지에서 바로 리포트 이동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6D6A0"/>
                </a:solidFill>
              </a:rPr>
              <a:t>Playwright 검증 결과 종합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solidFill>
            <a:srgbClr val="004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C800"/>
                </a:solidFill>
              </a:rPr>
              <a:t>영역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39" y="10515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C800"/>
                </a:solidFill>
              </a:rPr>
              <a:t>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59" y="105156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C800"/>
                </a:solidFill>
              </a:rPr>
              <a:t>결과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1051560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C800"/>
                </a:solidFill>
              </a:rPr>
              <a:t>상태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11430000" cy="374904"/>
          </a:xfrm>
          <a:prstGeom prst="rect">
            <a:avLst/>
          </a:prstGeom>
          <a:solidFill>
            <a:srgbClr val="1A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90472"/>
            <a:ext cx="2468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게임 내 AI 퀴즈 (Phaser)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39" y="149047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age_group=senior 퀴즈 생성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1490472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중학생 수준 어휘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69880" y="1490472"/>
            <a:ext cx="685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6D6A0"/>
                </a:solidFill>
              </a:rPr>
              <a:t>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856232"/>
            <a:ext cx="11430000" cy="374904"/>
          </a:xfrm>
          <a:prstGeom prst="rect">
            <a:avLst/>
          </a:prstGeom>
          <a:solidFill>
            <a:srgbClr val="12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883664"/>
            <a:ext cx="2468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게임 내 AI 퀴즈 (Phaser)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39" y="1883664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선택지 undefined/NaN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1883664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0건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69880" y="1883664"/>
            <a:ext cx="685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6D6A0"/>
                </a:solidFill>
              </a:rPr>
              <a:t>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249424"/>
            <a:ext cx="11430000" cy="374904"/>
          </a:xfrm>
          <a:prstGeom prst="rect">
            <a:avLst/>
          </a:prstGeom>
          <a:solidFill>
            <a:srgbClr val="1A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276856"/>
            <a:ext cx="2468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게임 내 AI 퀴즈 (Phaser)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39" y="227685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정답 피드백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2276856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🎉 오! 연속 정답이야!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69880" y="2276856"/>
            <a:ext cx="685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6D6A0"/>
                </a:solidFill>
              </a:rPr>
              <a:t>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42616"/>
            <a:ext cx="11430000" cy="374904"/>
          </a:xfrm>
          <a:prstGeom prst="rect">
            <a:avLst/>
          </a:prstGeom>
          <a:solidFill>
            <a:srgbClr val="12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670048"/>
            <a:ext cx="2468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뉴스 AI 퀴즈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39" y="2670048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기사 로드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2670048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4건 정상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69880" y="2670048"/>
            <a:ext cx="685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6D6A0"/>
                </a:solidFill>
              </a:rPr>
              <a:t>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035808"/>
            <a:ext cx="11430000" cy="374904"/>
          </a:xfrm>
          <a:prstGeom prst="rect">
            <a:avLst/>
          </a:prstGeom>
          <a:solidFill>
            <a:srgbClr val="1A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063240"/>
            <a:ext cx="2468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뉴스 AI 퀴즈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39" y="3063240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퀴즈 생성 (2건)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59" y="3063240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3지선다, 빈 값 0건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69880" y="3063240"/>
            <a:ext cx="685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6D6A0"/>
                </a:solidFill>
              </a:rPr>
              <a:t>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429000"/>
            <a:ext cx="11430000" cy="374904"/>
          </a:xfrm>
          <a:prstGeom prst="rect">
            <a:avLst/>
          </a:prstGeom>
          <a:solidFill>
            <a:srgbClr val="12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456432"/>
            <a:ext cx="2468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뉴스 AI 퀴즈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63239" y="345643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정답 +15코인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59" y="3456432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피드백 정상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3456432"/>
            <a:ext cx="685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6D6A0"/>
                </a:solidFill>
              </a:rPr>
              <a:t>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822191"/>
            <a:ext cx="11430000" cy="374904"/>
          </a:xfrm>
          <a:prstGeom prst="rect">
            <a:avLst/>
          </a:prstGeom>
          <a:solidFill>
            <a:srgbClr val="1A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3849624"/>
            <a:ext cx="2468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뉴스 AI 퀴즈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63239" y="3849624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오답 -5코인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59" y="3849624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해설 텍스트 정상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69880" y="3849624"/>
            <a:ext cx="685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6D6A0"/>
                </a:solidFill>
              </a:rPr>
              <a:t>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215383"/>
            <a:ext cx="11430000" cy="374904"/>
          </a:xfrm>
          <a:prstGeom prst="rect">
            <a:avLst/>
          </a:prstGeom>
          <a:solidFill>
            <a:srgbClr val="12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242816"/>
            <a:ext cx="2468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배틀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63239" y="424281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월드 클리어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59" y="4242816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코인·레벨업·알림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69880" y="4242816"/>
            <a:ext cx="685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6D6A0"/>
                </a:solidFill>
              </a:rPr>
              <a:t>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4608576"/>
            <a:ext cx="11430000" cy="374904"/>
          </a:xfrm>
          <a:prstGeom prst="rect">
            <a:avLst/>
          </a:prstGeom>
          <a:solidFill>
            <a:srgbClr val="1A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4636008"/>
            <a:ext cx="2468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증여 챗봇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63239" y="4636008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pypdf 에러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59" y="4636008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에러 제거, RAG 모드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69880" y="4636008"/>
            <a:ext cx="685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6D6A0"/>
                </a:solidFill>
              </a:rPr>
              <a:t>✅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001768"/>
            <a:ext cx="11430000" cy="374904"/>
          </a:xfrm>
          <a:prstGeom prst="rect">
            <a:avLst/>
          </a:prstGeom>
          <a:solidFill>
            <a:srgbClr val="12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5029200"/>
            <a:ext cx="2468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증여 챗봇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63239" y="5029200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입력창 가시성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9359" y="5029200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다크 배경+흰 텍스트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69880" y="5029200"/>
            <a:ext cx="685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6D6A0"/>
                </a:solidFill>
              </a:rPr>
              <a:t>✅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394960"/>
            <a:ext cx="11430000" cy="374904"/>
          </a:xfrm>
          <a:prstGeom prst="rect">
            <a:avLst/>
          </a:prstGeom>
          <a:solidFill>
            <a:srgbClr val="1A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5422392"/>
            <a:ext cx="2468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BGM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63239" y="542239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bgm.wav HTTP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359" y="5422392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200 OK · 6.16 MB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69880" y="5422392"/>
            <a:ext cx="685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6D6A0"/>
                </a:solidFill>
              </a:rPr>
              <a:t>✅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5788152"/>
            <a:ext cx="11430000" cy="374904"/>
          </a:xfrm>
          <a:prstGeom prst="rect">
            <a:avLst/>
          </a:prstGeom>
          <a:solidFill>
            <a:srgbClr val="12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5815584"/>
            <a:ext cx="2468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BGM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063239" y="5815584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audio 재생 상태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9359" y="5815584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paused:false, rS:4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469880" y="5815584"/>
            <a:ext cx="685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6D6A0"/>
                </a:solidFill>
              </a:rPr>
              <a:t>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003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572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FFFFFF"/>
                </a:solidFill>
              </a:rPr>
              <a:t>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92024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개선 작업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7432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C800"/>
                </a:solidFill>
              </a:rPr>
              <a:t>신한 쏠어드벤처  ·  어린이 금융 탐험 게임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38328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DDF0"/>
                </a:solidFill>
              </a:rPr>
              <a:t>총 7개 카테고리  ·  15+ 항목 개선  ·  전 기능 Playwright 검증 완료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297680"/>
            <a:ext cx="2011680" cy="1463040"/>
          </a:xfrm>
          <a:prstGeom prst="rect">
            <a:avLst/>
          </a:prstGeom>
          <a:solidFill>
            <a:srgbClr val="1A2F5A"/>
          </a:solidFill>
          <a:ln w="10160">
            <a:solidFill>
              <a:srgbClr val="008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38912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C800"/>
                </a:solidFill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120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F0"/>
                </a:solidFill>
              </a:rPr>
              <a:t>개선 카테고리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4297680"/>
            <a:ext cx="2011680" cy="1463040"/>
          </a:xfrm>
          <a:prstGeom prst="rect">
            <a:avLst/>
          </a:prstGeom>
          <a:solidFill>
            <a:srgbClr val="1A2F5A"/>
          </a:solidFill>
          <a:ln w="10160">
            <a:solidFill>
              <a:srgbClr val="008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438912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C800"/>
                </a:solidFill>
              </a:rPr>
              <a:t>15+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5120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F0"/>
                </a:solidFill>
              </a:rPr>
              <a:t>수정 항목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4297680"/>
            <a:ext cx="2011680" cy="1463040"/>
          </a:xfrm>
          <a:prstGeom prst="rect">
            <a:avLst/>
          </a:prstGeom>
          <a:solidFill>
            <a:srgbClr val="1A2F5A"/>
          </a:solidFill>
          <a:ln w="10160">
            <a:solidFill>
              <a:srgbClr val="008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438912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C800"/>
                </a:solidFill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5120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F0"/>
                </a:solidFill>
              </a:rPr>
              <a:t>검증 케이스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4297680"/>
            <a:ext cx="2011680" cy="1463040"/>
          </a:xfrm>
          <a:prstGeom prst="rect">
            <a:avLst/>
          </a:prstGeom>
          <a:solidFill>
            <a:srgbClr val="1A2F5A"/>
          </a:solidFill>
          <a:ln w="10160">
            <a:solidFill>
              <a:srgbClr val="008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438912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C800"/>
                </a:solidFill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5120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F0"/>
                </a:solidFill>
              </a:rPr>
              <a:t>미결 버그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4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BBCC"/>
                </a:solidFill>
              </a:rPr>
              <a:t>Shinhan SolAdventure  ©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